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sldIdLst>
    <p:sldId id="256" r:id="rId5"/>
    <p:sldId id="282" r:id="rId6"/>
    <p:sldId id="291" r:id="rId7"/>
    <p:sldId id="299" r:id="rId8"/>
    <p:sldId id="300" r:id="rId9"/>
    <p:sldId id="301" r:id="rId10"/>
    <p:sldId id="302" r:id="rId11"/>
    <p:sldId id="303" r:id="rId12"/>
    <p:sldId id="307" r:id="rId13"/>
    <p:sldId id="306" r:id="rId14"/>
    <p:sldId id="309" r:id="rId15"/>
    <p:sldId id="272" r:id="rId16"/>
    <p:sldId id="305" r:id="rId17"/>
    <p:sldId id="29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3DB91731-0980-4566-98AA-AAA063915107}">
          <p14:sldIdLst>
            <p14:sldId id="256"/>
            <p14:sldId id="282"/>
            <p14:sldId id="291"/>
            <p14:sldId id="299"/>
            <p14:sldId id="300"/>
            <p14:sldId id="301"/>
            <p14:sldId id="302"/>
            <p14:sldId id="303"/>
            <p14:sldId id="307"/>
            <p14:sldId id="306"/>
            <p14:sldId id="309"/>
            <p14:sldId id="272"/>
            <p14:sldId id="305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83C6"/>
    <a:srgbClr val="CDD9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C2FDD9-D965-4B14-9498-D5F949BDD923}" v="51" dt="2026-01-26T22:37:36.4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CF8BD-3FC7-4A9B-B78C-A685E928EB19}" type="datetimeFigureOut">
              <a:rPr lang="nl-NL" smtClean="0"/>
              <a:t>26-1-2026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57879-B84F-4D3F-B538-08757D70BA6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1941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0197CF-7E3B-00BE-FF27-9D2D36A3C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Project Presentation</a:t>
            </a:r>
            <a:br>
              <a:rPr lang="en-US" sz="4400" dirty="0"/>
            </a:br>
            <a:r>
              <a:rPr lang="nl-NL" sz="2400" dirty="0"/>
              <a:t>End-</a:t>
            </a:r>
            <a:r>
              <a:rPr lang="nl-NL" sz="2400" dirty="0" err="1"/>
              <a:t>to</a:t>
            </a:r>
            <a:r>
              <a:rPr lang="nl-NL" sz="2400" dirty="0"/>
              <a:t>-End Insurance Claim Processing</a:t>
            </a:r>
            <a:br>
              <a:rPr lang="nl-NL" dirty="0"/>
            </a:br>
            <a:br>
              <a:rPr lang="nl-NL" sz="2400" dirty="0"/>
            </a:br>
            <a:endParaRPr lang="nl-NL" sz="240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2E54B6A-829A-13EE-1237-13623BEAAF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100" dirty="0" err="1"/>
              <a:t>Changyong</a:t>
            </a:r>
            <a:r>
              <a:rPr lang="en-US" sz="1100" dirty="0"/>
              <a:t> Hyun - Tsp student </a:t>
            </a:r>
          </a:p>
          <a:p>
            <a:r>
              <a:rPr lang="en-US" sz="1100" dirty="0"/>
              <a:t>THIJMEN WELBERG - TSP STUDENT</a:t>
            </a:r>
          </a:p>
          <a:p>
            <a:endParaRPr lang="nl-NL" sz="1100" dirty="0"/>
          </a:p>
        </p:txBody>
      </p:sp>
    </p:spTree>
    <p:extLst>
      <p:ext uri="{BB962C8B-B14F-4D97-AF65-F5344CB8AC3E}">
        <p14:creationId xmlns:p14="http://schemas.microsoft.com/office/powerpoint/2010/main" val="1693532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4E4AC266-DF26-DBA1-B5B7-A1B6641BD9FB}"/>
              </a:ext>
            </a:extLst>
          </p:cNvPr>
          <p:cNvSpPr txBox="1">
            <a:spLocks/>
          </p:cNvSpPr>
          <p:nvPr/>
        </p:nvSpPr>
        <p:spPr>
          <a:xfrm>
            <a:off x="1035488" y="394977"/>
            <a:ext cx="5060512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Outline </a:t>
            </a:r>
            <a:endParaRPr lang="nl-NL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ECED3FE2-424F-7431-9BCC-093F96134CBD}"/>
              </a:ext>
            </a:extLst>
          </p:cNvPr>
          <p:cNvSpPr txBox="1"/>
          <p:nvPr/>
        </p:nvSpPr>
        <p:spPr>
          <a:xfrm>
            <a:off x="1188720" y="1975104"/>
            <a:ext cx="99486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System overview</a:t>
            </a:r>
          </a:p>
          <a:p>
            <a:pPr marL="342900" indent="-342900">
              <a:buFont typeface="+mj-lt"/>
              <a:buAutoNum type="arabicPeriod"/>
            </a:pPr>
            <a:r>
              <a:rPr lang="nl-NL" dirty="0"/>
              <a:t>Claim </a:t>
            </a:r>
            <a:r>
              <a:rPr lang="nl-NL" dirty="0" err="1"/>
              <a:t>Submission</a:t>
            </a:r>
            <a:r>
              <a:rPr lang="nl-NL" dirty="0"/>
              <a:t> Service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Identity Verification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Fraud Detection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Policy Validation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Gateway Logic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BPMN workflow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Live Demo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96120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A9868-D185-2B28-B9EC-7F7430579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C9817ED7-02B9-035F-FDE3-65C7A03AF438}"/>
              </a:ext>
            </a:extLst>
          </p:cNvPr>
          <p:cNvSpPr txBox="1">
            <a:spLocks/>
          </p:cNvSpPr>
          <p:nvPr/>
        </p:nvSpPr>
        <p:spPr>
          <a:xfrm>
            <a:off x="1035488" y="1252728"/>
            <a:ext cx="9013768" cy="5930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System Overview</a:t>
            </a:r>
          </a:p>
          <a:p>
            <a:r>
              <a:rPr lang="en-US" dirty="0"/>
              <a:t> </a:t>
            </a:r>
            <a:endParaRPr lang="nl-NL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C346D2D3-3ED7-320D-EC84-9AC9E230A0E2}"/>
              </a:ext>
            </a:extLst>
          </p:cNvPr>
          <p:cNvSpPr txBox="1"/>
          <p:nvPr/>
        </p:nvSpPr>
        <p:spPr>
          <a:xfrm>
            <a:off x="1225296" y="1938528"/>
            <a:ext cx="99212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Digital insurance claim processing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End-to-end workflow from submission to payment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4 different service technologies integrated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SOAP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gRPC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GraphQL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service technology is chosen based on its responsibility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Workflow orchestration using Java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0377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C1A3A-4AEF-B09D-4DFC-6CF9FF65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6242688-12FB-6BB9-5157-4439E83A142A}"/>
              </a:ext>
            </a:extLst>
          </p:cNvPr>
          <p:cNvSpPr txBox="1">
            <a:spLocks/>
          </p:cNvSpPr>
          <p:nvPr/>
        </p:nvSpPr>
        <p:spPr>
          <a:xfrm>
            <a:off x="1035488" y="1252728"/>
            <a:ext cx="9013768" cy="5930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dirty="0"/>
              <a:t>REST API - Claim </a:t>
            </a:r>
            <a:r>
              <a:rPr lang="nl-NL" dirty="0" err="1"/>
              <a:t>Submission</a:t>
            </a:r>
            <a:r>
              <a:rPr lang="nl-NL" dirty="0"/>
              <a:t> Service </a:t>
            </a:r>
            <a:endParaRPr lang="en-US" dirty="0"/>
          </a:p>
          <a:p>
            <a:r>
              <a:rPr lang="en-US" dirty="0"/>
              <a:t> </a:t>
            </a:r>
            <a:endParaRPr lang="nl-NL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B6373163-7881-6EAD-9984-98BA5906E567}"/>
              </a:ext>
            </a:extLst>
          </p:cNvPr>
          <p:cNvSpPr txBox="1"/>
          <p:nvPr/>
        </p:nvSpPr>
        <p:spPr>
          <a:xfrm>
            <a:off x="1225296" y="1938528"/>
            <a:ext cx="31455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 CRUD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JSON-based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Stateless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Industry standard for public APIs</a:t>
            </a:r>
            <a:endParaRPr lang="nl-NL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CC366C05-84DB-2CF6-C0B5-ECC5EFE6D9B7}"/>
              </a:ext>
            </a:extLst>
          </p:cNvPr>
          <p:cNvSpPr txBox="1"/>
          <p:nvPr/>
        </p:nvSpPr>
        <p:spPr>
          <a:xfrm>
            <a:off x="4645152" y="1938528"/>
            <a:ext cx="777932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latin typeface="Consolas" panose="020B0609020204030204" pitchFamily="49" charset="0"/>
              </a:rPr>
              <a:t>// REST Service: Claim </a:t>
            </a:r>
            <a:r>
              <a:rPr lang="nl-NL" sz="1600" dirty="0" err="1">
                <a:latin typeface="Consolas" panose="020B0609020204030204" pitchFamily="49" charset="0"/>
              </a:rPr>
              <a:t>Submission</a:t>
            </a:r>
            <a:endParaRPr lang="nl-NL" sz="1600" dirty="0">
              <a:latin typeface="Consolas" panose="020B0609020204030204" pitchFamily="49" charset="0"/>
            </a:endParaRPr>
          </a:p>
          <a:p>
            <a:r>
              <a:rPr lang="nl-NL" sz="1600" dirty="0">
                <a:latin typeface="Consolas" panose="020B0609020204030204" pitchFamily="49" charset="0"/>
              </a:rPr>
              <a:t>@Path("/claims")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public class </a:t>
            </a:r>
            <a:r>
              <a:rPr lang="nl-NL" sz="1600" dirty="0" err="1">
                <a:latin typeface="Consolas" panose="020B0609020204030204" pitchFamily="49" charset="0"/>
              </a:rPr>
              <a:t>ClaimSubmissionService</a:t>
            </a:r>
            <a:r>
              <a:rPr lang="nl-NL" sz="1600" dirty="0">
                <a:latin typeface="Consolas" panose="020B0609020204030204" pitchFamily="49" charset="0"/>
              </a:rPr>
              <a:t> {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@POST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@Path("/submit")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public Response </a:t>
            </a:r>
            <a:r>
              <a:rPr lang="nl-NL" sz="1600" dirty="0" err="1">
                <a:latin typeface="Consolas" panose="020B0609020204030204" pitchFamily="49" charset="0"/>
              </a:rPr>
              <a:t>submitClaim</a:t>
            </a:r>
            <a:r>
              <a:rPr lang="nl-NL" sz="1600" dirty="0">
                <a:latin typeface="Consolas" panose="020B0609020204030204" pitchFamily="49" charset="0"/>
              </a:rPr>
              <a:t>(</a:t>
            </a:r>
            <a:r>
              <a:rPr lang="nl-NL" sz="1600" dirty="0" err="1">
                <a:latin typeface="Consolas" panose="020B0609020204030204" pitchFamily="49" charset="0"/>
              </a:rPr>
              <a:t>ClaimRequest</a:t>
            </a:r>
            <a:r>
              <a:rPr lang="nl-NL" sz="1600" dirty="0">
                <a:latin typeface="Consolas" panose="020B0609020204030204" pitchFamily="49" charset="0"/>
              </a:rPr>
              <a:t> </a:t>
            </a:r>
            <a:r>
              <a:rPr lang="nl-NL" sz="1600" dirty="0" err="1">
                <a:latin typeface="Consolas" panose="020B0609020204030204" pitchFamily="49" charset="0"/>
              </a:rPr>
              <a:t>request</a:t>
            </a:r>
            <a:r>
              <a:rPr lang="nl-NL" sz="1600" dirty="0">
                <a:latin typeface="Consolas" panose="020B0609020204030204" pitchFamily="49" charset="0"/>
              </a:rPr>
              <a:t>) {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    // </a:t>
            </a:r>
            <a:r>
              <a:rPr lang="nl-NL" sz="1600" dirty="0" err="1">
                <a:latin typeface="Consolas" panose="020B0609020204030204" pitchFamily="49" charset="0"/>
              </a:rPr>
              <a:t>Process</a:t>
            </a:r>
            <a:r>
              <a:rPr lang="nl-NL" sz="1600" dirty="0">
                <a:latin typeface="Consolas" panose="020B0609020204030204" pitchFamily="49" charset="0"/>
              </a:rPr>
              <a:t> claim </a:t>
            </a:r>
            <a:r>
              <a:rPr lang="nl-NL" sz="1600" dirty="0" err="1">
                <a:latin typeface="Consolas" panose="020B0609020204030204" pitchFamily="49" charset="0"/>
              </a:rPr>
              <a:t>submission</a:t>
            </a:r>
            <a:endParaRPr lang="nl-NL" sz="1600" dirty="0">
              <a:latin typeface="Consolas" panose="020B0609020204030204" pitchFamily="49" charset="0"/>
            </a:endParaRPr>
          </a:p>
          <a:p>
            <a:r>
              <a:rPr lang="nl-NL" sz="1600" dirty="0">
                <a:latin typeface="Consolas" panose="020B0609020204030204" pitchFamily="49" charset="0"/>
              </a:rPr>
              <a:t>        </a:t>
            </a:r>
            <a:r>
              <a:rPr lang="nl-NL" sz="1600" dirty="0" err="1">
                <a:latin typeface="Consolas" panose="020B0609020204030204" pitchFamily="49" charset="0"/>
              </a:rPr>
              <a:t>ClaimResponse</a:t>
            </a:r>
            <a:r>
              <a:rPr lang="nl-NL" sz="1600" dirty="0">
                <a:latin typeface="Consolas" panose="020B0609020204030204" pitchFamily="49" charset="0"/>
              </a:rPr>
              <a:t> response = new </a:t>
            </a:r>
            <a:r>
              <a:rPr lang="nl-NL" sz="1600" dirty="0" err="1">
                <a:latin typeface="Consolas" panose="020B0609020204030204" pitchFamily="49" charset="0"/>
              </a:rPr>
              <a:t>ClaimResponse</a:t>
            </a:r>
            <a:r>
              <a:rPr lang="nl-NL" sz="1600" dirty="0">
                <a:latin typeface="Consolas" panose="020B0609020204030204" pitchFamily="49" charset="0"/>
              </a:rPr>
              <a:t>();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    </a:t>
            </a:r>
            <a:r>
              <a:rPr lang="nl-NL" sz="1600" dirty="0" err="1">
                <a:latin typeface="Consolas" panose="020B0609020204030204" pitchFamily="49" charset="0"/>
              </a:rPr>
              <a:t>response.setClaimId</a:t>
            </a:r>
            <a:r>
              <a:rPr lang="nl-NL" sz="1600" dirty="0">
                <a:latin typeface="Consolas" panose="020B0609020204030204" pitchFamily="49" charset="0"/>
              </a:rPr>
              <a:t>("CLM-" + </a:t>
            </a:r>
            <a:r>
              <a:rPr lang="nl-NL" sz="1600" dirty="0" err="1">
                <a:latin typeface="Consolas" panose="020B0609020204030204" pitchFamily="49" charset="0"/>
              </a:rPr>
              <a:t>System.currentTimeMillis</a:t>
            </a:r>
            <a:r>
              <a:rPr lang="nl-NL" sz="1600" dirty="0">
                <a:latin typeface="Consolas" panose="020B0609020204030204" pitchFamily="49" charset="0"/>
              </a:rPr>
              <a:t>());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    </a:t>
            </a:r>
            <a:r>
              <a:rPr lang="nl-NL" sz="1600" dirty="0" err="1">
                <a:latin typeface="Consolas" panose="020B0609020204030204" pitchFamily="49" charset="0"/>
              </a:rPr>
              <a:t>response.setStatus</a:t>
            </a:r>
            <a:r>
              <a:rPr lang="nl-NL" sz="1600" dirty="0">
                <a:latin typeface="Consolas" panose="020B0609020204030204" pitchFamily="49" charset="0"/>
              </a:rPr>
              <a:t>("PENDING");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    return </a:t>
            </a:r>
            <a:r>
              <a:rPr lang="nl-NL" sz="1600" dirty="0" err="1">
                <a:latin typeface="Consolas" panose="020B0609020204030204" pitchFamily="49" charset="0"/>
              </a:rPr>
              <a:t>Response.ok</a:t>
            </a:r>
            <a:r>
              <a:rPr lang="nl-NL" sz="1600" dirty="0">
                <a:latin typeface="Consolas" panose="020B0609020204030204" pitchFamily="49" charset="0"/>
              </a:rPr>
              <a:t>(response).</a:t>
            </a:r>
            <a:r>
              <a:rPr lang="nl-NL" sz="1600" dirty="0" err="1">
                <a:latin typeface="Consolas" panose="020B0609020204030204" pitchFamily="49" charset="0"/>
              </a:rPr>
              <a:t>build</a:t>
            </a:r>
            <a:r>
              <a:rPr lang="nl-NL" sz="1600" dirty="0">
                <a:latin typeface="Consolas" panose="020B0609020204030204" pitchFamily="49" charset="0"/>
              </a:rPr>
              <a:t>();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}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7348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0BBB6-DB63-CDD5-DD70-BDA11AFC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9467EEDF-961C-A36A-6B7F-27BF67DD4670}"/>
              </a:ext>
            </a:extLst>
          </p:cNvPr>
          <p:cNvSpPr txBox="1">
            <a:spLocks/>
          </p:cNvSpPr>
          <p:nvPr/>
        </p:nvSpPr>
        <p:spPr>
          <a:xfrm>
            <a:off x="1035488" y="1252728"/>
            <a:ext cx="9013768" cy="5930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SOAP Web Service – Identity Verification</a:t>
            </a:r>
          </a:p>
          <a:p>
            <a:r>
              <a:rPr lang="en-US" dirty="0"/>
              <a:t> </a:t>
            </a:r>
            <a:endParaRPr lang="nl-NL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6A7BEFCA-85C3-C555-F985-537EA0C416C8}"/>
              </a:ext>
            </a:extLst>
          </p:cNvPr>
          <p:cNvSpPr txBox="1"/>
          <p:nvPr/>
        </p:nvSpPr>
        <p:spPr>
          <a:xfrm>
            <a:off x="1225296" y="1938528"/>
            <a:ext cx="31455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Enterprise-level security (WS-Security)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Contract-first (WSDL)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typing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 in legacy enterprise systems</a:t>
            </a:r>
            <a:endParaRPr lang="nl-NL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BB6C71AC-74A4-3C24-1907-3FFA638B56B4}"/>
              </a:ext>
            </a:extLst>
          </p:cNvPr>
          <p:cNvSpPr txBox="1"/>
          <p:nvPr/>
        </p:nvSpPr>
        <p:spPr>
          <a:xfrm>
            <a:off x="4645152" y="1938528"/>
            <a:ext cx="77793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latin typeface="Consolas" panose="020B0609020204030204" pitchFamily="49" charset="0"/>
              </a:rPr>
              <a:t>// SOAP Service: Identity </a:t>
            </a:r>
            <a:r>
              <a:rPr lang="nl-NL" sz="1600" dirty="0" err="1">
                <a:latin typeface="Consolas" panose="020B0609020204030204" pitchFamily="49" charset="0"/>
              </a:rPr>
              <a:t>Verification</a:t>
            </a:r>
            <a:endParaRPr lang="nl-NL" sz="1600" dirty="0">
              <a:latin typeface="Consolas" panose="020B0609020204030204" pitchFamily="49" charset="0"/>
            </a:endParaRPr>
          </a:p>
          <a:p>
            <a:r>
              <a:rPr lang="nl-NL" sz="1600" dirty="0">
                <a:latin typeface="Consolas" panose="020B0609020204030204" pitchFamily="49" charset="0"/>
              </a:rPr>
              <a:t>@WebService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public class </a:t>
            </a:r>
            <a:r>
              <a:rPr lang="nl-NL" sz="1600" dirty="0" err="1">
                <a:latin typeface="Consolas" panose="020B0609020204030204" pitchFamily="49" charset="0"/>
              </a:rPr>
              <a:t>IdentityVerificationService</a:t>
            </a:r>
            <a:r>
              <a:rPr lang="nl-NL" sz="1600" dirty="0">
                <a:latin typeface="Consolas" panose="020B0609020204030204" pitchFamily="49" charset="0"/>
              </a:rPr>
              <a:t> {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@WebMethod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public </a:t>
            </a:r>
            <a:r>
              <a:rPr lang="nl-NL" sz="1600" dirty="0" err="1">
                <a:latin typeface="Consolas" panose="020B0609020204030204" pitchFamily="49" charset="0"/>
              </a:rPr>
              <a:t>VerificationResult</a:t>
            </a:r>
            <a:r>
              <a:rPr lang="nl-NL" sz="1600" dirty="0">
                <a:latin typeface="Consolas" panose="020B0609020204030204" pitchFamily="49" charset="0"/>
              </a:rPr>
              <a:t> </a:t>
            </a:r>
            <a:r>
              <a:rPr lang="nl-NL" sz="1600" dirty="0" err="1">
                <a:latin typeface="Consolas" panose="020B0609020204030204" pitchFamily="49" charset="0"/>
              </a:rPr>
              <a:t>verifyIdentity</a:t>
            </a:r>
            <a:r>
              <a:rPr lang="nl-NL" sz="1600" dirty="0">
                <a:latin typeface="Consolas" panose="020B0609020204030204" pitchFamily="49" charset="0"/>
              </a:rPr>
              <a:t>(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    @WebParam(name = "</a:t>
            </a:r>
            <a:r>
              <a:rPr lang="nl-NL" sz="1600" dirty="0" err="1">
                <a:latin typeface="Consolas" panose="020B0609020204030204" pitchFamily="49" charset="0"/>
              </a:rPr>
              <a:t>customerId</a:t>
            </a:r>
            <a:r>
              <a:rPr lang="nl-NL" sz="1600" dirty="0">
                <a:latin typeface="Consolas" panose="020B0609020204030204" pitchFamily="49" charset="0"/>
              </a:rPr>
              <a:t>") String </a:t>
            </a:r>
            <a:r>
              <a:rPr lang="nl-NL" sz="1600" dirty="0" err="1">
                <a:latin typeface="Consolas" panose="020B0609020204030204" pitchFamily="49" charset="0"/>
              </a:rPr>
              <a:t>customerId</a:t>
            </a:r>
            <a:r>
              <a:rPr lang="nl-NL" sz="1600" dirty="0">
                <a:latin typeface="Consolas" panose="020B0609020204030204" pitchFamily="49" charset="0"/>
              </a:rPr>
              <a:t>,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    @WebParam(name = "</a:t>
            </a:r>
            <a:r>
              <a:rPr lang="nl-NL" sz="1600" dirty="0" err="1">
                <a:latin typeface="Consolas" panose="020B0609020204030204" pitchFamily="49" charset="0"/>
              </a:rPr>
              <a:t>customerName</a:t>
            </a:r>
            <a:r>
              <a:rPr lang="nl-NL" sz="1600" dirty="0">
                <a:latin typeface="Consolas" panose="020B0609020204030204" pitchFamily="49" charset="0"/>
              </a:rPr>
              <a:t>") String </a:t>
            </a:r>
            <a:r>
              <a:rPr lang="nl-NL" sz="1600" dirty="0" err="1">
                <a:latin typeface="Consolas" panose="020B0609020204030204" pitchFamily="49" charset="0"/>
              </a:rPr>
              <a:t>customerName</a:t>
            </a:r>
            <a:endParaRPr lang="nl-NL" sz="1600" dirty="0">
              <a:latin typeface="Consolas" panose="020B0609020204030204" pitchFamily="49" charset="0"/>
            </a:endParaRPr>
          </a:p>
          <a:p>
            <a:r>
              <a:rPr lang="nl-NL" sz="1600" dirty="0">
                <a:latin typeface="Consolas" panose="020B0609020204030204" pitchFamily="49" charset="0"/>
              </a:rPr>
              <a:t>    ) {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    // Mock </a:t>
            </a:r>
            <a:r>
              <a:rPr lang="nl-NL" sz="1600" dirty="0" err="1">
                <a:latin typeface="Consolas" panose="020B0609020204030204" pitchFamily="49" charset="0"/>
              </a:rPr>
              <a:t>verification</a:t>
            </a:r>
            <a:r>
              <a:rPr lang="nl-NL" sz="1600" dirty="0">
                <a:latin typeface="Consolas" panose="020B0609020204030204" pitchFamily="49" charset="0"/>
              </a:rPr>
              <a:t> logic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    </a:t>
            </a:r>
            <a:r>
              <a:rPr lang="nl-NL" sz="1600" dirty="0" err="1">
                <a:latin typeface="Consolas" panose="020B0609020204030204" pitchFamily="49" charset="0"/>
              </a:rPr>
              <a:t>boolean</a:t>
            </a:r>
            <a:r>
              <a:rPr lang="nl-NL" sz="1600" dirty="0">
                <a:latin typeface="Consolas" panose="020B0609020204030204" pitchFamily="49" charset="0"/>
              </a:rPr>
              <a:t> </a:t>
            </a:r>
            <a:r>
              <a:rPr lang="nl-NL" sz="1600" dirty="0" err="1">
                <a:latin typeface="Consolas" panose="020B0609020204030204" pitchFamily="49" charset="0"/>
              </a:rPr>
              <a:t>verified</a:t>
            </a:r>
            <a:r>
              <a:rPr lang="nl-NL" sz="1600" dirty="0">
                <a:latin typeface="Consolas" panose="020B0609020204030204" pitchFamily="49" charset="0"/>
              </a:rPr>
              <a:t> = (</a:t>
            </a:r>
            <a:r>
              <a:rPr lang="nl-NL" sz="1600" dirty="0" err="1">
                <a:latin typeface="Consolas" panose="020B0609020204030204" pitchFamily="49" charset="0"/>
              </a:rPr>
              <a:t>customerId.hashCode</a:t>
            </a:r>
            <a:r>
              <a:rPr lang="nl-NL" sz="1600" dirty="0">
                <a:latin typeface="Consolas" panose="020B0609020204030204" pitchFamily="49" charset="0"/>
              </a:rPr>
              <a:t>() % 2 == 0);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    return new </a:t>
            </a:r>
            <a:r>
              <a:rPr lang="nl-NL" sz="1600" dirty="0" err="1">
                <a:latin typeface="Consolas" panose="020B0609020204030204" pitchFamily="49" charset="0"/>
              </a:rPr>
              <a:t>VerificationResult</a:t>
            </a:r>
            <a:r>
              <a:rPr lang="nl-NL" sz="1600" dirty="0">
                <a:latin typeface="Consolas" panose="020B0609020204030204" pitchFamily="49" charset="0"/>
              </a:rPr>
              <a:t>(</a:t>
            </a:r>
            <a:r>
              <a:rPr lang="nl-NL" sz="1600" dirty="0" err="1">
                <a:latin typeface="Consolas" panose="020B0609020204030204" pitchFamily="49" charset="0"/>
              </a:rPr>
              <a:t>verified</a:t>
            </a:r>
            <a:r>
              <a:rPr lang="nl-NL" sz="1600" dirty="0">
                <a:latin typeface="Consolas" panose="020B0609020204030204" pitchFamily="49" charset="0"/>
              </a:rPr>
              <a:t>, "</a:t>
            </a:r>
            <a:r>
              <a:rPr lang="nl-NL" sz="1600" dirty="0" err="1">
                <a:latin typeface="Consolas" panose="020B0609020204030204" pitchFamily="49" charset="0"/>
              </a:rPr>
              <a:t>Verification</a:t>
            </a:r>
            <a:r>
              <a:rPr lang="nl-NL" sz="1600" dirty="0">
                <a:latin typeface="Consolas" panose="020B0609020204030204" pitchFamily="49" charset="0"/>
              </a:rPr>
              <a:t> complete");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  }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8226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755B6-10B3-0E6C-209F-CC17E4019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64722601-CDCF-680D-68CE-82A5A0135DFF}"/>
              </a:ext>
            </a:extLst>
          </p:cNvPr>
          <p:cNvSpPr txBox="1">
            <a:spLocks/>
          </p:cNvSpPr>
          <p:nvPr/>
        </p:nvSpPr>
        <p:spPr>
          <a:xfrm>
            <a:off x="1035488" y="1252728"/>
            <a:ext cx="9013768" cy="5930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gRPC</a:t>
            </a:r>
            <a:r>
              <a:rPr lang="en-US" dirty="0"/>
              <a:t> Service – Fraud Detection</a:t>
            </a:r>
          </a:p>
          <a:p>
            <a:r>
              <a:rPr lang="en-US" dirty="0"/>
              <a:t> </a:t>
            </a:r>
            <a:endParaRPr lang="nl-NL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F38F78B9-D0DC-9CD3-527F-AFE9B8C9B96A}"/>
              </a:ext>
            </a:extLst>
          </p:cNvPr>
          <p:cNvSpPr txBox="1"/>
          <p:nvPr/>
        </p:nvSpPr>
        <p:spPr>
          <a:xfrm>
            <a:off x="1225296" y="1938528"/>
            <a:ext cx="3145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low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Binary protocol (</a:t>
            </a:r>
            <a:r>
              <a:rPr lang="en-US" dirty="0" err="1"/>
              <a:t>Protobuf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fraud analysis</a:t>
            </a:r>
            <a:endParaRPr lang="nl-NL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6CB7FE70-4C03-A846-4FCC-F4FC87BDE538}"/>
              </a:ext>
            </a:extLst>
          </p:cNvPr>
          <p:cNvSpPr txBox="1"/>
          <p:nvPr/>
        </p:nvSpPr>
        <p:spPr>
          <a:xfrm>
            <a:off x="4645152" y="1938528"/>
            <a:ext cx="777932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latin typeface="Consolas" panose="020B0609020204030204" pitchFamily="49" charset="0"/>
              </a:rPr>
              <a:t>// Protocol Buffers: </a:t>
            </a:r>
            <a:r>
              <a:rPr lang="nl-NL" sz="1600" dirty="0" err="1">
                <a:latin typeface="Consolas" panose="020B0609020204030204" pitchFamily="49" charset="0"/>
              </a:rPr>
              <a:t>fraud_detection.proto</a:t>
            </a:r>
            <a:endParaRPr lang="nl-NL" sz="1600" dirty="0">
              <a:latin typeface="Consolas" panose="020B0609020204030204" pitchFamily="49" charset="0"/>
            </a:endParaRPr>
          </a:p>
          <a:p>
            <a:r>
              <a:rPr lang="nl-NL" sz="1600" dirty="0">
                <a:latin typeface="Consolas" panose="020B0609020204030204" pitchFamily="49" charset="0"/>
              </a:rPr>
              <a:t>service </a:t>
            </a:r>
            <a:r>
              <a:rPr lang="nl-NL" sz="1600" dirty="0" err="1">
                <a:latin typeface="Consolas" panose="020B0609020204030204" pitchFamily="49" charset="0"/>
              </a:rPr>
              <a:t>FraudDetection</a:t>
            </a:r>
            <a:r>
              <a:rPr lang="nl-NL" sz="1600" dirty="0">
                <a:latin typeface="Consolas" panose="020B0609020204030204" pitchFamily="49" charset="0"/>
              </a:rPr>
              <a:t> {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</a:t>
            </a:r>
            <a:r>
              <a:rPr lang="nl-NL" sz="1600" dirty="0" err="1">
                <a:latin typeface="Consolas" panose="020B0609020204030204" pitchFamily="49" charset="0"/>
              </a:rPr>
              <a:t>rpc</a:t>
            </a:r>
            <a:r>
              <a:rPr lang="nl-NL" sz="1600" dirty="0">
                <a:latin typeface="Consolas" panose="020B0609020204030204" pitchFamily="49" charset="0"/>
              </a:rPr>
              <a:t> </a:t>
            </a:r>
            <a:r>
              <a:rPr lang="nl-NL" sz="1600" dirty="0" err="1">
                <a:latin typeface="Consolas" panose="020B0609020204030204" pitchFamily="49" charset="0"/>
              </a:rPr>
              <a:t>AnalyzeClaim</a:t>
            </a:r>
            <a:r>
              <a:rPr lang="nl-NL" sz="1600" dirty="0">
                <a:latin typeface="Consolas" panose="020B0609020204030204" pitchFamily="49" charset="0"/>
              </a:rPr>
              <a:t> (</a:t>
            </a:r>
            <a:r>
              <a:rPr lang="nl-NL" sz="1600" dirty="0" err="1">
                <a:latin typeface="Consolas" panose="020B0609020204030204" pitchFamily="49" charset="0"/>
              </a:rPr>
              <a:t>FraudRequest</a:t>
            </a:r>
            <a:r>
              <a:rPr lang="nl-NL" sz="1600" dirty="0">
                <a:latin typeface="Consolas" panose="020B0609020204030204" pitchFamily="49" charset="0"/>
              </a:rPr>
              <a:t>) returns (</a:t>
            </a:r>
            <a:r>
              <a:rPr lang="nl-NL" sz="1600" dirty="0" err="1">
                <a:latin typeface="Consolas" panose="020B0609020204030204" pitchFamily="49" charset="0"/>
              </a:rPr>
              <a:t>FraudResponse</a:t>
            </a:r>
            <a:r>
              <a:rPr lang="nl-NL" sz="1600" dirty="0">
                <a:latin typeface="Consolas" panose="020B0609020204030204" pitchFamily="49" charset="0"/>
              </a:rPr>
              <a:t>);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}</a:t>
            </a:r>
          </a:p>
          <a:p>
            <a:endParaRPr lang="nl-NL" sz="1600" dirty="0">
              <a:latin typeface="Consolas" panose="020B0609020204030204" pitchFamily="49" charset="0"/>
            </a:endParaRPr>
          </a:p>
          <a:p>
            <a:r>
              <a:rPr lang="nl-NL" sz="1600" dirty="0" err="1">
                <a:latin typeface="Consolas" panose="020B0609020204030204" pitchFamily="49" charset="0"/>
              </a:rPr>
              <a:t>message</a:t>
            </a:r>
            <a:r>
              <a:rPr lang="nl-NL" sz="1600" dirty="0">
                <a:latin typeface="Consolas" panose="020B0609020204030204" pitchFamily="49" charset="0"/>
              </a:rPr>
              <a:t> </a:t>
            </a:r>
            <a:r>
              <a:rPr lang="nl-NL" sz="1600" dirty="0" err="1">
                <a:latin typeface="Consolas" panose="020B0609020204030204" pitchFamily="49" charset="0"/>
              </a:rPr>
              <a:t>FraudRequest</a:t>
            </a:r>
            <a:r>
              <a:rPr lang="nl-NL" sz="1600" dirty="0">
                <a:latin typeface="Consolas" panose="020B0609020204030204" pitchFamily="49" charset="0"/>
              </a:rPr>
              <a:t> {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string </a:t>
            </a:r>
            <a:r>
              <a:rPr lang="nl-NL" sz="1600" dirty="0" err="1">
                <a:latin typeface="Consolas" panose="020B0609020204030204" pitchFamily="49" charset="0"/>
              </a:rPr>
              <a:t>claim_id</a:t>
            </a:r>
            <a:r>
              <a:rPr lang="nl-NL" sz="1600" dirty="0">
                <a:latin typeface="Consolas" panose="020B0609020204030204" pitchFamily="49" charset="0"/>
              </a:rPr>
              <a:t> = 1;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double </a:t>
            </a:r>
            <a:r>
              <a:rPr lang="nl-NL" sz="1600" dirty="0" err="1">
                <a:latin typeface="Consolas" panose="020B0609020204030204" pitchFamily="49" charset="0"/>
              </a:rPr>
              <a:t>amount</a:t>
            </a:r>
            <a:r>
              <a:rPr lang="nl-NL" sz="1600" dirty="0">
                <a:latin typeface="Consolas" panose="020B0609020204030204" pitchFamily="49" charset="0"/>
              </a:rPr>
              <a:t> = 2;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string </a:t>
            </a:r>
            <a:r>
              <a:rPr lang="nl-NL" sz="1600" dirty="0" err="1">
                <a:latin typeface="Consolas" panose="020B0609020204030204" pitchFamily="49" charset="0"/>
              </a:rPr>
              <a:t>claim_type</a:t>
            </a:r>
            <a:r>
              <a:rPr lang="nl-NL" sz="1600" dirty="0">
                <a:latin typeface="Consolas" panose="020B0609020204030204" pitchFamily="49" charset="0"/>
              </a:rPr>
              <a:t> = 3;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}</a:t>
            </a:r>
          </a:p>
          <a:p>
            <a:endParaRPr lang="nl-NL" sz="1600" dirty="0">
              <a:latin typeface="Consolas" panose="020B0609020204030204" pitchFamily="49" charset="0"/>
            </a:endParaRPr>
          </a:p>
          <a:p>
            <a:r>
              <a:rPr lang="nl-NL" sz="1600" dirty="0" err="1">
                <a:latin typeface="Consolas" panose="020B0609020204030204" pitchFamily="49" charset="0"/>
              </a:rPr>
              <a:t>message</a:t>
            </a:r>
            <a:r>
              <a:rPr lang="nl-NL" sz="1600" dirty="0">
                <a:latin typeface="Consolas" panose="020B0609020204030204" pitchFamily="49" charset="0"/>
              </a:rPr>
              <a:t> </a:t>
            </a:r>
            <a:r>
              <a:rPr lang="nl-NL" sz="1600" dirty="0" err="1">
                <a:latin typeface="Consolas" panose="020B0609020204030204" pitchFamily="49" charset="0"/>
              </a:rPr>
              <a:t>FraudResponse</a:t>
            </a:r>
            <a:r>
              <a:rPr lang="nl-NL" sz="1600" dirty="0">
                <a:latin typeface="Consolas" panose="020B0609020204030204" pitchFamily="49" charset="0"/>
              </a:rPr>
              <a:t> {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</a:t>
            </a:r>
            <a:r>
              <a:rPr lang="nl-NL" sz="1600" dirty="0" err="1">
                <a:latin typeface="Consolas" panose="020B0609020204030204" pitchFamily="49" charset="0"/>
              </a:rPr>
              <a:t>enum</a:t>
            </a:r>
            <a:r>
              <a:rPr lang="nl-NL" sz="1600" dirty="0">
                <a:latin typeface="Consolas" panose="020B0609020204030204" pitchFamily="49" charset="0"/>
              </a:rPr>
              <a:t> </a:t>
            </a:r>
            <a:r>
              <a:rPr lang="nl-NL" sz="1600" dirty="0" err="1">
                <a:latin typeface="Consolas" panose="020B0609020204030204" pitchFamily="49" charset="0"/>
              </a:rPr>
              <a:t>RiskLevel</a:t>
            </a:r>
            <a:r>
              <a:rPr lang="nl-NL" sz="1600" dirty="0">
                <a:latin typeface="Consolas" panose="020B0609020204030204" pitchFamily="49" charset="0"/>
              </a:rPr>
              <a:t> { LOW = 0; MEDIUM = 1; HIGH = 2; }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</a:t>
            </a:r>
            <a:r>
              <a:rPr lang="nl-NL" sz="1600" dirty="0" err="1">
                <a:latin typeface="Consolas" panose="020B0609020204030204" pitchFamily="49" charset="0"/>
              </a:rPr>
              <a:t>RiskLevel</a:t>
            </a:r>
            <a:r>
              <a:rPr lang="nl-NL" sz="1600" dirty="0">
                <a:latin typeface="Consolas" panose="020B0609020204030204" pitchFamily="49" charset="0"/>
              </a:rPr>
              <a:t> risk = 1;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double </a:t>
            </a:r>
            <a:r>
              <a:rPr lang="nl-NL" sz="1600" dirty="0" err="1">
                <a:latin typeface="Consolas" panose="020B0609020204030204" pitchFamily="49" charset="0"/>
              </a:rPr>
              <a:t>risk_score</a:t>
            </a:r>
            <a:r>
              <a:rPr lang="nl-NL" sz="1600" dirty="0">
                <a:latin typeface="Consolas" panose="020B0609020204030204" pitchFamily="49" charset="0"/>
              </a:rPr>
              <a:t> = 2;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2900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78B5-E3B6-7C84-E48F-A5224F5FE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823AD18-6734-C046-B977-3EA023AD67B7}"/>
              </a:ext>
            </a:extLst>
          </p:cNvPr>
          <p:cNvSpPr txBox="1">
            <a:spLocks/>
          </p:cNvSpPr>
          <p:nvPr/>
        </p:nvSpPr>
        <p:spPr>
          <a:xfrm>
            <a:off x="1035488" y="1252728"/>
            <a:ext cx="9013768" cy="5930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GraphQL</a:t>
            </a:r>
            <a:r>
              <a:rPr lang="en-US" dirty="0"/>
              <a:t> API – Policy Validation</a:t>
            </a:r>
          </a:p>
          <a:p>
            <a:r>
              <a:rPr lang="en-US" dirty="0"/>
              <a:t> </a:t>
            </a:r>
            <a:endParaRPr lang="nl-NL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1B18B7FF-5CA4-5588-6150-309B6A259ABB}"/>
              </a:ext>
            </a:extLst>
          </p:cNvPr>
          <p:cNvSpPr txBox="1"/>
          <p:nvPr/>
        </p:nvSpPr>
        <p:spPr>
          <a:xfrm>
            <a:off x="1225296" y="1938528"/>
            <a:ext cx="31455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Flexible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 requests only required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Avoids over-fetching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 endpoint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4077E0E1-93DD-AA38-BFDB-E9BB5696B652}"/>
              </a:ext>
            </a:extLst>
          </p:cNvPr>
          <p:cNvSpPr txBox="1"/>
          <p:nvPr/>
        </p:nvSpPr>
        <p:spPr>
          <a:xfrm>
            <a:off x="4645152" y="1938528"/>
            <a:ext cx="77793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latin typeface="Consolas" panose="020B0609020204030204" pitchFamily="49" charset="0"/>
              </a:rPr>
              <a:t># </a:t>
            </a:r>
            <a:r>
              <a:rPr lang="nl-NL" sz="1600" dirty="0" err="1">
                <a:latin typeface="Consolas" panose="020B0609020204030204" pitchFamily="49" charset="0"/>
              </a:rPr>
              <a:t>GraphQL</a:t>
            </a:r>
            <a:r>
              <a:rPr lang="nl-NL" sz="1600" dirty="0">
                <a:latin typeface="Consolas" panose="020B0609020204030204" pitchFamily="49" charset="0"/>
              </a:rPr>
              <a:t> Schema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type Policy {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</a:t>
            </a:r>
            <a:r>
              <a:rPr lang="nl-NL" sz="1600" dirty="0" err="1">
                <a:latin typeface="Consolas" panose="020B0609020204030204" pitchFamily="49" charset="0"/>
              </a:rPr>
              <a:t>policyNumber</a:t>
            </a:r>
            <a:r>
              <a:rPr lang="nl-NL" sz="1600" dirty="0">
                <a:latin typeface="Consolas" panose="020B0609020204030204" pitchFamily="49" charset="0"/>
              </a:rPr>
              <a:t>: String!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</a:t>
            </a:r>
            <a:r>
              <a:rPr lang="nl-NL" sz="1600" dirty="0" err="1">
                <a:latin typeface="Consolas" panose="020B0609020204030204" pitchFamily="49" charset="0"/>
              </a:rPr>
              <a:t>isValid</a:t>
            </a:r>
            <a:r>
              <a:rPr lang="nl-NL" sz="1600" dirty="0">
                <a:latin typeface="Consolas" panose="020B0609020204030204" pitchFamily="49" charset="0"/>
              </a:rPr>
              <a:t>: </a:t>
            </a:r>
            <a:r>
              <a:rPr lang="nl-NL" sz="1600" dirty="0" err="1">
                <a:latin typeface="Consolas" panose="020B0609020204030204" pitchFamily="49" charset="0"/>
              </a:rPr>
              <a:t>Boolean</a:t>
            </a:r>
            <a:r>
              <a:rPr lang="nl-NL" sz="1600" dirty="0">
                <a:latin typeface="Consolas" panose="020B0609020204030204" pitchFamily="49" charset="0"/>
              </a:rPr>
              <a:t>!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</a:t>
            </a:r>
            <a:r>
              <a:rPr lang="nl-NL" sz="1600" dirty="0" err="1">
                <a:latin typeface="Consolas" panose="020B0609020204030204" pitchFamily="49" charset="0"/>
              </a:rPr>
              <a:t>coverage</a:t>
            </a:r>
            <a:r>
              <a:rPr lang="nl-NL" sz="1600" dirty="0">
                <a:latin typeface="Consolas" panose="020B0609020204030204" pitchFamily="49" charset="0"/>
              </a:rPr>
              <a:t>: String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percentage: </a:t>
            </a:r>
            <a:r>
              <a:rPr lang="nl-NL" sz="1600" dirty="0" err="1">
                <a:latin typeface="Consolas" panose="020B0609020204030204" pitchFamily="49" charset="0"/>
              </a:rPr>
              <a:t>Float</a:t>
            </a:r>
            <a:endParaRPr lang="nl-NL" sz="1600" dirty="0">
              <a:latin typeface="Consolas" panose="020B0609020204030204" pitchFamily="49" charset="0"/>
            </a:endParaRPr>
          </a:p>
          <a:p>
            <a:r>
              <a:rPr lang="nl-NL" sz="1600" dirty="0">
                <a:latin typeface="Consolas" panose="020B0609020204030204" pitchFamily="49" charset="0"/>
              </a:rPr>
              <a:t>  </a:t>
            </a:r>
            <a:r>
              <a:rPr lang="nl-NL" sz="1600" dirty="0" err="1">
                <a:latin typeface="Consolas" panose="020B0609020204030204" pitchFamily="49" charset="0"/>
              </a:rPr>
              <a:t>expiryDate</a:t>
            </a:r>
            <a:r>
              <a:rPr lang="nl-NL" sz="1600" dirty="0">
                <a:latin typeface="Consolas" panose="020B0609020204030204" pitchFamily="49" charset="0"/>
              </a:rPr>
              <a:t>: String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}</a:t>
            </a:r>
          </a:p>
          <a:p>
            <a:endParaRPr lang="nl-NL" sz="1600" dirty="0">
              <a:latin typeface="Consolas" panose="020B0609020204030204" pitchFamily="49" charset="0"/>
            </a:endParaRPr>
          </a:p>
          <a:p>
            <a:r>
              <a:rPr lang="nl-NL" sz="1600" dirty="0">
                <a:latin typeface="Consolas" panose="020B0609020204030204" pitchFamily="49" charset="0"/>
              </a:rPr>
              <a:t>type Query {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  </a:t>
            </a:r>
            <a:r>
              <a:rPr lang="nl-NL" sz="1600" dirty="0" err="1">
                <a:latin typeface="Consolas" panose="020B0609020204030204" pitchFamily="49" charset="0"/>
              </a:rPr>
              <a:t>validatePolicy</a:t>
            </a:r>
            <a:r>
              <a:rPr lang="nl-NL" sz="1600" dirty="0">
                <a:latin typeface="Consolas" panose="020B0609020204030204" pitchFamily="49" charset="0"/>
              </a:rPr>
              <a:t>(</a:t>
            </a:r>
            <a:r>
              <a:rPr lang="nl-NL" sz="1600" dirty="0" err="1">
                <a:latin typeface="Consolas" panose="020B0609020204030204" pitchFamily="49" charset="0"/>
              </a:rPr>
              <a:t>policyNumber</a:t>
            </a:r>
            <a:r>
              <a:rPr lang="nl-NL" sz="1600" dirty="0">
                <a:latin typeface="Consolas" panose="020B0609020204030204" pitchFamily="49" charset="0"/>
              </a:rPr>
              <a:t>: String!): Policy</a:t>
            </a:r>
          </a:p>
          <a:p>
            <a:r>
              <a:rPr lang="nl-NL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9019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53366-5FF7-6BCE-53A4-19FA1F158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78B660FD-66EF-ACB4-1745-A4509445873A}"/>
              </a:ext>
            </a:extLst>
          </p:cNvPr>
          <p:cNvSpPr txBox="1">
            <a:spLocks/>
          </p:cNvSpPr>
          <p:nvPr/>
        </p:nvSpPr>
        <p:spPr>
          <a:xfrm>
            <a:off x="1035488" y="1252728"/>
            <a:ext cx="9013768" cy="5930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Gateway Logic - XOR/AND/OR</a:t>
            </a:r>
          </a:p>
          <a:p>
            <a:r>
              <a:rPr lang="en-US" dirty="0"/>
              <a:t> </a:t>
            </a:r>
            <a:endParaRPr lang="nl-NL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9B4E3C05-DCF2-D826-36AE-CAC730468248}"/>
              </a:ext>
            </a:extLst>
          </p:cNvPr>
          <p:cNvSpPr txBox="1"/>
          <p:nvPr/>
        </p:nvSpPr>
        <p:spPr>
          <a:xfrm>
            <a:off x="1145216" y="1911096"/>
            <a:ext cx="84285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>
                <a:latin typeface="Consolas" panose="020B0609020204030204" pitchFamily="49" charset="0"/>
              </a:rPr>
              <a:t>// XOR Gateway: </a:t>
            </a:r>
            <a:r>
              <a:rPr lang="nl-NL" sz="1200" dirty="0" err="1">
                <a:latin typeface="Consolas" panose="020B0609020204030204" pitchFamily="49" charset="0"/>
              </a:rPr>
              <a:t>Exclusive</a:t>
            </a:r>
            <a:r>
              <a:rPr lang="nl-NL" sz="1200" dirty="0">
                <a:latin typeface="Consolas" panose="020B0609020204030204" pitchFamily="49" charset="0"/>
              </a:rPr>
              <a:t> </a:t>
            </a:r>
            <a:r>
              <a:rPr lang="nl-NL" sz="1200" dirty="0" err="1">
                <a:latin typeface="Consolas" panose="020B0609020204030204" pitchFamily="49" charset="0"/>
              </a:rPr>
              <a:t>Decision</a:t>
            </a:r>
            <a:endParaRPr lang="nl-NL" sz="1200" dirty="0">
              <a:latin typeface="Consolas" panose="020B0609020204030204" pitchFamily="49" charset="0"/>
            </a:endParaRPr>
          </a:p>
          <a:p>
            <a:r>
              <a:rPr lang="nl-NL" sz="1200" dirty="0" err="1">
                <a:latin typeface="Consolas" panose="020B0609020204030204" pitchFamily="49" charset="0"/>
              </a:rPr>
              <a:t>if</a:t>
            </a:r>
            <a:r>
              <a:rPr lang="nl-NL" sz="1200" dirty="0">
                <a:latin typeface="Consolas" panose="020B0609020204030204" pitchFamily="49" charset="0"/>
              </a:rPr>
              <a:t> (!</a:t>
            </a:r>
            <a:r>
              <a:rPr lang="nl-NL" sz="1200" dirty="0" err="1">
                <a:latin typeface="Consolas" panose="020B0609020204030204" pitchFamily="49" charset="0"/>
              </a:rPr>
              <a:t>identityVerified</a:t>
            </a:r>
            <a:r>
              <a:rPr lang="nl-NL" sz="1200" dirty="0">
                <a:latin typeface="Consolas" panose="020B0609020204030204" pitchFamily="49" charset="0"/>
              </a:rPr>
              <a:t>) {</a:t>
            </a:r>
          </a:p>
          <a:p>
            <a:r>
              <a:rPr lang="nl-NL" sz="1200" dirty="0">
                <a:latin typeface="Consolas" panose="020B0609020204030204" pitchFamily="49" charset="0"/>
              </a:rPr>
              <a:t>    return "REJECTED";</a:t>
            </a:r>
            <a:r>
              <a:rPr lang="nl-NL" altLang="ko-KR" sz="1200" dirty="0">
                <a:latin typeface="Consolas" panose="020B0609020204030204" pitchFamily="49" charset="0"/>
              </a:rPr>
              <a:t>}</a:t>
            </a:r>
          </a:p>
          <a:p>
            <a:endParaRPr lang="nl-NL" altLang="ko-KR" sz="1200" dirty="0">
              <a:latin typeface="Consolas" panose="020B0609020204030204" pitchFamily="49" charset="0"/>
            </a:endParaRPr>
          </a:p>
          <a:p>
            <a:r>
              <a:rPr lang="nl-NL" altLang="ko-KR" sz="1200" dirty="0">
                <a:latin typeface="Consolas" panose="020B0609020204030204" pitchFamily="49" charset="0"/>
              </a:rPr>
              <a:t>// </a:t>
            </a:r>
            <a:r>
              <a:rPr lang="nl-NL" sz="1200" dirty="0">
                <a:latin typeface="Consolas" panose="020B0609020204030204" pitchFamily="49" charset="0"/>
              </a:rPr>
              <a:t>AND Gateway: Parallel Processing</a:t>
            </a:r>
          </a:p>
          <a:p>
            <a:r>
              <a:rPr lang="nl-NL" sz="1200" dirty="0" err="1">
                <a:latin typeface="Consolas" panose="020B0609020204030204" pitchFamily="49" charset="0"/>
              </a:rPr>
              <a:t>CompletableFuture</a:t>
            </a:r>
            <a:r>
              <a:rPr lang="nl-NL" sz="1200" dirty="0">
                <a:latin typeface="Consolas" panose="020B0609020204030204" pitchFamily="49" charset="0"/>
              </a:rPr>
              <a:t>&lt;</a:t>
            </a:r>
            <a:r>
              <a:rPr lang="nl-NL" sz="1200" dirty="0" err="1">
                <a:latin typeface="Consolas" panose="020B0609020204030204" pitchFamily="49" charset="0"/>
              </a:rPr>
              <a:t>RiskLevel</a:t>
            </a:r>
            <a:r>
              <a:rPr lang="nl-NL" sz="1200" dirty="0">
                <a:latin typeface="Consolas" panose="020B0609020204030204" pitchFamily="49" charset="0"/>
              </a:rPr>
              <a:t>&gt; </a:t>
            </a:r>
            <a:r>
              <a:rPr lang="nl-NL" sz="1200" dirty="0" err="1">
                <a:latin typeface="Consolas" panose="020B0609020204030204" pitchFamily="49" charset="0"/>
              </a:rPr>
              <a:t>fraudFuture</a:t>
            </a:r>
            <a:r>
              <a:rPr lang="nl-NL" sz="1200" dirty="0">
                <a:latin typeface="Consolas" panose="020B0609020204030204" pitchFamily="49" charset="0"/>
              </a:rPr>
              <a:t> =</a:t>
            </a:r>
          </a:p>
          <a:p>
            <a:r>
              <a:rPr lang="nl-NL" sz="1200" dirty="0">
                <a:latin typeface="Consolas" panose="020B0609020204030204" pitchFamily="49" charset="0"/>
              </a:rPr>
              <a:t>    </a:t>
            </a:r>
            <a:r>
              <a:rPr lang="nl-NL" sz="1200" dirty="0" err="1">
                <a:latin typeface="Consolas" panose="020B0609020204030204" pitchFamily="49" charset="0"/>
              </a:rPr>
              <a:t>CompletableFuture.supplyAsync</a:t>
            </a:r>
            <a:r>
              <a:rPr lang="nl-NL" sz="1200" dirty="0">
                <a:latin typeface="Consolas" panose="020B0609020204030204" pitchFamily="49" charset="0"/>
              </a:rPr>
              <a:t>(() -&gt; </a:t>
            </a:r>
            <a:r>
              <a:rPr lang="nl-NL" sz="1200" dirty="0" err="1">
                <a:latin typeface="Consolas" panose="020B0609020204030204" pitchFamily="49" charset="0"/>
              </a:rPr>
              <a:t>detectFraud</a:t>
            </a:r>
            <a:r>
              <a:rPr lang="nl-NL" sz="1200" dirty="0">
                <a:latin typeface="Consolas" panose="020B0609020204030204" pitchFamily="49" charset="0"/>
              </a:rPr>
              <a:t>(...));</a:t>
            </a:r>
          </a:p>
          <a:p>
            <a:r>
              <a:rPr lang="nl-NL" sz="1200" dirty="0" err="1">
                <a:latin typeface="Consolas" panose="020B0609020204030204" pitchFamily="49" charset="0"/>
              </a:rPr>
              <a:t>CompletableFuture</a:t>
            </a:r>
            <a:r>
              <a:rPr lang="nl-NL" sz="1200" dirty="0">
                <a:latin typeface="Consolas" panose="020B0609020204030204" pitchFamily="49" charset="0"/>
              </a:rPr>
              <a:t>&lt;</a:t>
            </a:r>
            <a:r>
              <a:rPr lang="nl-NL" sz="1200" dirty="0" err="1">
                <a:latin typeface="Consolas" panose="020B0609020204030204" pitchFamily="49" charset="0"/>
              </a:rPr>
              <a:t>Boolean</a:t>
            </a:r>
            <a:r>
              <a:rPr lang="nl-NL" sz="1200" dirty="0">
                <a:latin typeface="Consolas" panose="020B0609020204030204" pitchFamily="49" charset="0"/>
              </a:rPr>
              <a:t>&gt; </a:t>
            </a:r>
            <a:r>
              <a:rPr lang="nl-NL" sz="1200" dirty="0" err="1">
                <a:latin typeface="Consolas" panose="020B0609020204030204" pitchFamily="49" charset="0"/>
              </a:rPr>
              <a:t>docFuture</a:t>
            </a:r>
            <a:r>
              <a:rPr lang="nl-NL" sz="1200" dirty="0">
                <a:latin typeface="Consolas" panose="020B0609020204030204" pitchFamily="49" charset="0"/>
              </a:rPr>
              <a:t> =</a:t>
            </a:r>
          </a:p>
          <a:p>
            <a:r>
              <a:rPr lang="nl-NL" sz="1200" dirty="0">
                <a:latin typeface="Consolas" panose="020B0609020204030204" pitchFamily="49" charset="0"/>
              </a:rPr>
              <a:t>    </a:t>
            </a:r>
            <a:r>
              <a:rPr lang="nl-NL" sz="1200" dirty="0" err="1">
                <a:latin typeface="Consolas" panose="020B0609020204030204" pitchFamily="49" charset="0"/>
              </a:rPr>
              <a:t>CompletableFuture.supplyAsync</a:t>
            </a:r>
            <a:r>
              <a:rPr lang="nl-NL" sz="1200" dirty="0">
                <a:latin typeface="Consolas" panose="020B0609020204030204" pitchFamily="49" charset="0"/>
              </a:rPr>
              <a:t>(() -&gt; </a:t>
            </a:r>
            <a:r>
              <a:rPr lang="nl-NL" sz="1200" dirty="0" err="1">
                <a:latin typeface="Consolas" panose="020B0609020204030204" pitchFamily="49" charset="0"/>
              </a:rPr>
              <a:t>reviewDocuments</a:t>
            </a:r>
            <a:r>
              <a:rPr lang="nl-NL" sz="1200" dirty="0">
                <a:latin typeface="Consolas" panose="020B0609020204030204" pitchFamily="49" charset="0"/>
              </a:rPr>
              <a:t>(...));</a:t>
            </a:r>
          </a:p>
          <a:p>
            <a:endParaRPr lang="nl-NL" sz="1200" dirty="0">
              <a:latin typeface="Consolas" panose="020B0609020204030204" pitchFamily="49" charset="0"/>
            </a:endParaRPr>
          </a:p>
          <a:p>
            <a:r>
              <a:rPr lang="nl-NL" sz="1200" dirty="0" err="1">
                <a:latin typeface="Consolas" panose="020B0609020204030204" pitchFamily="49" charset="0"/>
              </a:rPr>
              <a:t>RiskLevel</a:t>
            </a:r>
            <a:r>
              <a:rPr lang="nl-NL" sz="1200" dirty="0">
                <a:latin typeface="Consolas" panose="020B0609020204030204" pitchFamily="49" charset="0"/>
              </a:rPr>
              <a:t> risk = </a:t>
            </a:r>
            <a:r>
              <a:rPr lang="nl-NL" sz="1200" dirty="0" err="1">
                <a:latin typeface="Consolas" panose="020B0609020204030204" pitchFamily="49" charset="0"/>
              </a:rPr>
              <a:t>fraudFuture.join</a:t>
            </a:r>
            <a:r>
              <a:rPr lang="nl-NL" sz="1200" dirty="0">
                <a:latin typeface="Consolas" panose="020B0609020204030204" pitchFamily="49" charset="0"/>
              </a:rPr>
              <a:t>(); </a:t>
            </a:r>
          </a:p>
          <a:p>
            <a:r>
              <a:rPr lang="nl-NL" sz="1200" dirty="0" err="1">
                <a:latin typeface="Consolas" panose="020B0609020204030204" pitchFamily="49" charset="0"/>
              </a:rPr>
              <a:t>Boolean</a:t>
            </a:r>
            <a:r>
              <a:rPr lang="nl-NL" sz="1200" dirty="0">
                <a:latin typeface="Consolas" panose="020B0609020204030204" pitchFamily="49" charset="0"/>
              </a:rPr>
              <a:t> </a:t>
            </a:r>
            <a:r>
              <a:rPr lang="nl-NL" sz="1200" dirty="0" err="1">
                <a:latin typeface="Consolas" panose="020B0609020204030204" pitchFamily="49" charset="0"/>
              </a:rPr>
              <a:t>docOk</a:t>
            </a:r>
            <a:r>
              <a:rPr lang="nl-NL" sz="1200" dirty="0">
                <a:latin typeface="Consolas" panose="020B0609020204030204" pitchFamily="49" charset="0"/>
              </a:rPr>
              <a:t> = </a:t>
            </a:r>
            <a:r>
              <a:rPr lang="nl-NL" sz="1200" dirty="0" err="1">
                <a:latin typeface="Consolas" panose="020B0609020204030204" pitchFamily="49" charset="0"/>
              </a:rPr>
              <a:t>docFuture.join</a:t>
            </a:r>
            <a:r>
              <a:rPr lang="nl-NL" sz="1200" dirty="0">
                <a:latin typeface="Consolas" panose="020B0609020204030204" pitchFamily="49" charset="0"/>
              </a:rPr>
              <a:t>();</a:t>
            </a:r>
          </a:p>
          <a:p>
            <a:endParaRPr lang="nl-NL" sz="1200" dirty="0">
              <a:latin typeface="Consolas" panose="020B0609020204030204" pitchFamily="49" charset="0"/>
            </a:endParaRPr>
          </a:p>
          <a:p>
            <a:r>
              <a:rPr lang="nl-NL" sz="1200" dirty="0">
                <a:latin typeface="Consolas" panose="020B0609020204030204" pitchFamily="49" charset="0"/>
              </a:rPr>
              <a:t>// OR Gateway: Multi-</a:t>
            </a:r>
            <a:r>
              <a:rPr lang="nl-NL" sz="1200" dirty="0" err="1">
                <a:latin typeface="Consolas" panose="020B0609020204030204" pitchFamily="49" charset="0"/>
              </a:rPr>
              <a:t>condition</a:t>
            </a:r>
            <a:r>
              <a:rPr lang="nl-NL" sz="1200" dirty="0">
                <a:latin typeface="Consolas" panose="020B0609020204030204" pitchFamily="49" charset="0"/>
              </a:rPr>
              <a:t> Routing</a:t>
            </a:r>
          </a:p>
          <a:p>
            <a:r>
              <a:rPr lang="nl-NL" sz="1200" dirty="0" err="1">
                <a:latin typeface="Consolas" panose="020B0609020204030204" pitchFamily="49" charset="0"/>
              </a:rPr>
              <a:t>if</a:t>
            </a:r>
            <a:r>
              <a:rPr lang="nl-NL" sz="1200" dirty="0">
                <a:latin typeface="Consolas" panose="020B0609020204030204" pitchFamily="49" charset="0"/>
              </a:rPr>
              <a:t> (risk == HIGH &amp;&amp; </a:t>
            </a:r>
            <a:r>
              <a:rPr lang="nl-NL" sz="1200" dirty="0" err="1">
                <a:latin typeface="Consolas" panose="020B0609020204030204" pitchFamily="49" charset="0"/>
              </a:rPr>
              <a:t>amount</a:t>
            </a:r>
            <a:r>
              <a:rPr lang="nl-NL" sz="1200" dirty="0">
                <a:latin typeface="Consolas" panose="020B0609020204030204" pitchFamily="49" charset="0"/>
              </a:rPr>
              <a:t> &gt; 10000) {</a:t>
            </a:r>
          </a:p>
          <a:p>
            <a:r>
              <a:rPr lang="nl-NL" sz="1200" dirty="0">
                <a:latin typeface="Consolas" panose="020B0609020204030204" pitchFamily="49" charset="0"/>
              </a:rPr>
              <a:t>    return "REJECTED";</a:t>
            </a:r>
          </a:p>
          <a:p>
            <a:r>
              <a:rPr lang="nl-NL" sz="1200" dirty="0">
                <a:latin typeface="Consolas" panose="020B0609020204030204" pitchFamily="49" charset="0"/>
              </a:rPr>
              <a:t>} </a:t>
            </a:r>
            <a:r>
              <a:rPr lang="nl-NL" sz="1200" dirty="0" err="1">
                <a:latin typeface="Consolas" panose="020B0609020204030204" pitchFamily="49" charset="0"/>
              </a:rPr>
              <a:t>else</a:t>
            </a:r>
            <a:r>
              <a:rPr lang="nl-NL" sz="1200" dirty="0">
                <a:latin typeface="Consolas" panose="020B0609020204030204" pitchFamily="49" charset="0"/>
              </a:rPr>
              <a:t> </a:t>
            </a:r>
            <a:r>
              <a:rPr lang="nl-NL" sz="1200" dirty="0" err="1">
                <a:latin typeface="Consolas" panose="020B0609020204030204" pitchFamily="49" charset="0"/>
              </a:rPr>
              <a:t>if</a:t>
            </a:r>
            <a:r>
              <a:rPr lang="nl-NL" sz="1200" dirty="0">
                <a:latin typeface="Consolas" panose="020B0609020204030204" pitchFamily="49" charset="0"/>
              </a:rPr>
              <a:t> (risk == HIGH) {</a:t>
            </a:r>
          </a:p>
          <a:p>
            <a:r>
              <a:rPr lang="nl-NL" sz="1200" dirty="0">
                <a:latin typeface="Consolas" panose="020B0609020204030204" pitchFamily="49" charset="0"/>
              </a:rPr>
              <a:t>    return "MANUAL_REVIEW";</a:t>
            </a:r>
          </a:p>
          <a:p>
            <a:r>
              <a:rPr lang="nl-NL" sz="1200" dirty="0">
                <a:latin typeface="Consolas" panose="020B0609020204030204" pitchFamily="49" charset="0"/>
              </a:rPr>
              <a:t>} </a:t>
            </a:r>
            <a:r>
              <a:rPr lang="nl-NL" sz="1200" dirty="0" err="1">
                <a:latin typeface="Consolas" panose="020B0609020204030204" pitchFamily="49" charset="0"/>
              </a:rPr>
              <a:t>else</a:t>
            </a:r>
            <a:r>
              <a:rPr lang="nl-NL" sz="1200" dirty="0">
                <a:latin typeface="Consolas" panose="020B0609020204030204" pitchFamily="49" charset="0"/>
              </a:rPr>
              <a:t> {</a:t>
            </a:r>
          </a:p>
          <a:p>
            <a:r>
              <a:rPr lang="nl-NL" sz="1200" dirty="0">
                <a:latin typeface="Consolas" panose="020B0609020204030204" pitchFamily="49" charset="0"/>
              </a:rPr>
              <a:t>    return "APPROVED";</a:t>
            </a:r>
          </a:p>
          <a:p>
            <a:r>
              <a:rPr lang="nl-NL" sz="12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79556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95DAD-625D-4F82-D7D6-3241EE68E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CE14F9B4-9BB7-D08E-25E6-E2317CABDC88}"/>
              </a:ext>
            </a:extLst>
          </p:cNvPr>
          <p:cNvSpPr txBox="1">
            <a:spLocks/>
          </p:cNvSpPr>
          <p:nvPr/>
        </p:nvSpPr>
        <p:spPr>
          <a:xfrm>
            <a:off x="1035488" y="1252728"/>
            <a:ext cx="9013768" cy="5930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Flowable</a:t>
            </a:r>
          </a:p>
          <a:p>
            <a:r>
              <a:rPr lang="en-US" dirty="0"/>
              <a:t> </a:t>
            </a:r>
            <a:endParaRPr lang="nl-NL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FB75CF24-4A97-EA48-FFA6-15638E38BDFB}"/>
              </a:ext>
            </a:extLst>
          </p:cNvPr>
          <p:cNvSpPr txBox="1"/>
          <p:nvPr/>
        </p:nvSpPr>
        <p:spPr>
          <a:xfrm>
            <a:off x="1035488" y="2042809"/>
            <a:ext cx="101318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Lightweight and easy to deploy on Apache Tomcat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focus on process orchestration rather than UI tooling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separation between: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BPMN process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External service implementations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Ideal for SOA projects requiring multiple technologies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0140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3E584-DF76-99A3-8DC3-47B91E832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D829E218-74FB-4455-98BE-F2C5BA897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7E8D75FD-D4F9-4D11-B70D-82EFCB4CF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5">
            <a:extLst>
              <a:ext uri="{FF2B5EF4-FFF2-40B4-BE49-F238E27FC236}">
                <a16:creationId xmlns:a16="http://schemas.microsoft.com/office/drawing/2014/main" id="{97D059AC-3470-4BA5-82E3-D1570297A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4B4C491-163D-2122-988B-CE4412070B17}"/>
              </a:ext>
            </a:extLst>
          </p:cNvPr>
          <p:cNvSpPr txBox="1">
            <a:spLocks/>
          </p:cNvSpPr>
          <p:nvPr/>
        </p:nvSpPr>
        <p:spPr>
          <a:xfrm>
            <a:off x="5289754" y="639097"/>
            <a:ext cx="6253317" cy="3686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endParaRPr lang="en-US" sz="8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F075D09A-FF42-4BFF-AC74-BFB1C6A4E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9">
            <a:extLst>
              <a:ext uri="{FF2B5EF4-FFF2-40B4-BE49-F238E27FC236}">
                <a16:creationId xmlns:a16="http://schemas.microsoft.com/office/drawing/2014/main" id="{FF10DB11-2231-4DE8-9179-3414D9F6C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7" name="Rectangle 21">
            <a:extLst>
              <a:ext uri="{FF2B5EF4-FFF2-40B4-BE49-F238E27FC236}">
                <a16:creationId xmlns:a16="http://schemas.microsoft.com/office/drawing/2014/main" id="{E691284A-2CC7-41DB-ADDC-4B9D104DD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722A5840-D21A-7C75-F0A6-10403594ED4B}"/>
              </a:ext>
            </a:extLst>
          </p:cNvPr>
          <p:cNvSpPr txBox="1"/>
          <p:nvPr/>
        </p:nvSpPr>
        <p:spPr>
          <a:xfrm>
            <a:off x="7384253" y="3999714"/>
            <a:ext cx="365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BPMN workflow</a:t>
            </a:r>
            <a:endParaRPr lang="nl-NL" dirty="0"/>
          </a:p>
        </p:txBody>
      </p:sp>
      <p:pic>
        <p:nvPicPr>
          <p:cNvPr id="25" name="Afbeelding 24" descr="Afbeelding met diagram, lijn, tekst, Parallel&#10;&#10;Door AI gegenereerde inhoud is mogelijk onjuist.">
            <a:extLst>
              <a:ext uri="{FF2B5EF4-FFF2-40B4-BE49-F238E27FC236}">
                <a16:creationId xmlns:a16="http://schemas.microsoft.com/office/drawing/2014/main" id="{D0D88622-9933-959D-EA2C-433ED24D9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71933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276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4A68B-3D3B-0ABA-54BD-8837DC441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C8B6E72A-E229-F49D-51BC-F1AC450B933A}"/>
              </a:ext>
            </a:extLst>
          </p:cNvPr>
          <p:cNvSpPr txBox="1">
            <a:spLocks/>
          </p:cNvSpPr>
          <p:nvPr/>
        </p:nvSpPr>
        <p:spPr>
          <a:xfrm>
            <a:off x="1035488" y="1252728"/>
            <a:ext cx="9013768" cy="5930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Limitations Flowable</a:t>
            </a:r>
          </a:p>
          <a:p>
            <a:r>
              <a:rPr lang="en-US" dirty="0"/>
              <a:t> </a:t>
            </a:r>
            <a:endParaRPr lang="nl-NL" dirty="0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48B9E381-C0C7-9C38-1E26-CD2845AB6815}"/>
              </a:ext>
            </a:extLst>
          </p:cNvPr>
          <p:cNvSpPr txBox="1"/>
          <p:nvPr/>
        </p:nvSpPr>
        <p:spPr>
          <a:xfrm>
            <a:off x="1035488" y="2024521"/>
            <a:ext cx="101318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BPMN workflow successfully modeled in Flowable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Service invocation limited by runtime deployment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Services implemented and verified independently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Live demo shows service functionality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96639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13F44-0EDE-A1F2-DFC2-A135F8BFE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275414-1AA7-A6A0-B22A-3B022B0685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Live Demo</a:t>
            </a:r>
            <a:endParaRPr lang="nl-NL" sz="240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0309600-80D6-2E10-727F-BF4170E53B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73777A0E-416B-5C7B-E930-15F3DF13DF96}"/>
              </a:ext>
            </a:extLst>
          </p:cNvPr>
          <p:cNvSpPr txBox="1"/>
          <p:nvPr/>
        </p:nvSpPr>
        <p:spPr>
          <a:xfrm>
            <a:off x="11155680" y="6611778"/>
            <a:ext cx="11484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Thijmen Welberg</a:t>
            </a:r>
            <a:endParaRPr lang="nl-NL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863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787A-1D7E-4BE3-758F-E55CF3814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1DDA57-E5F7-3307-3DA6-1B32D3E663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Questions?</a:t>
            </a:r>
            <a:endParaRPr lang="nl-NL" sz="240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2033F3D-3C4E-5E56-8CEB-1A21048B23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653647F5-0CD7-FBEC-114A-87A8B47260F1}"/>
              </a:ext>
            </a:extLst>
          </p:cNvPr>
          <p:cNvSpPr txBox="1"/>
          <p:nvPr/>
        </p:nvSpPr>
        <p:spPr>
          <a:xfrm>
            <a:off x="11155680" y="6611778"/>
            <a:ext cx="11484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Thijmen Welberg</a:t>
            </a:r>
            <a:endParaRPr lang="nl-NL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235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81416-8AEC-E1B5-63AB-C4D5808AB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6914BA-5990-9ECF-1C8B-61E94CE203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Thank you for listening!</a:t>
            </a:r>
            <a:endParaRPr lang="nl-NL" sz="240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680FF1B-B9A1-F19F-2A48-50FFA1759A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1ED3DE8F-998E-9360-B168-271AF2994711}"/>
              </a:ext>
            </a:extLst>
          </p:cNvPr>
          <p:cNvSpPr txBox="1"/>
          <p:nvPr/>
        </p:nvSpPr>
        <p:spPr>
          <a:xfrm>
            <a:off x="11155680" y="6611778"/>
            <a:ext cx="11484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Thijmen Welberg</a:t>
            </a:r>
            <a:endParaRPr lang="nl-NL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80041"/>
      </p:ext>
    </p:extLst>
  </p:cSld>
  <p:clrMapOvr>
    <a:masterClrMapping/>
  </p:clrMapOvr>
</p:sld>
</file>

<file path=ppt/theme/theme1.xml><?xml version="1.0" encoding="utf-8"?>
<a:theme xmlns:a="http://schemas.openxmlformats.org/drawingml/2006/main" name="Terugblik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60fb978-a28f-4c68-8fa6-e1a50e92ad4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6225BCCAE3C46894C4AAAB51BBBFF" ma:contentTypeVersion="13" ma:contentTypeDescription="Een nieuw document maken." ma:contentTypeScope="" ma:versionID="f151de2e964b2cca025889bb939c834d">
  <xsd:schema xmlns:xsd="http://www.w3.org/2001/XMLSchema" xmlns:xs="http://www.w3.org/2001/XMLSchema" xmlns:p="http://schemas.microsoft.com/office/2006/metadata/properties" xmlns:ns3="e60fb978-a28f-4c68-8fa6-e1a50e92ad4d" xmlns:ns4="ecd69fba-f01c-4be5-a13a-db8c875bf8c8" targetNamespace="http://schemas.microsoft.com/office/2006/metadata/properties" ma:root="true" ma:fieldsID="bae01ae5a124e39e8c689f85dfa0b254" ns3:_="" ns4:_="">
    <xsd:import namespace="e60fb978-a28f-4c68-8fa6-e1a50e92ad4d"/>
    <xsd:import namespace="ecd69fba-f01c-4be5-a13a-db8c875bf8c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0fb978-a28f-4c68-8fa6-e1a50e92ad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d69fba-f01c-4be5-a13a-db8c875bf8c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227EFD-781D-4AA1-BFD5-019BCA3B90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F95014-5975-46E4-A538-36ACF4F4B6DD}">
  <ds:schemaRefs>
    <ds:schemaRef ds:uri="e60fb978-a28f-4c68-8fa6-e1a50e92ad4d"/>
    <ds:schemaRef ds:uri="http://purl.org/dc/elements/1.1/"/>
    <ds:schemaRef ds:uri="http://schemas.microsoft.com/office/2006/documentManagement/types"/>
    <ds:schemaRef ds:uri="http://purl.org/dc/dcmitype/"/>
    <ds:schemaRef ds:uri="ecd69fba-f01c-4be5-a13a-db8c875bf8c8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56B5A46-F269-4D51-B0CD-3691DD6997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0fb978-a28f-4c68-8fa6-e1a50e92ad4d"/>
    <ds:schemaRef ds:uri="ecd69fba-f01c-4be5-a13a-db8c875bf8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Oral Presentation</Template>
  <TotalTime>74</TotalTime>
  <Words>632</Words>
  <Application>Microsoft Office PowerPoint</Application>
  <PresentationFormat>Breedbeeld</PresentationFormat>
  <Paragraphs>148</Paragraphs>
  <Slides>14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Consolas</vt:lpstr>
      <vt:lpstr>Terugblik</vt:lpstr>
      <vt:lpstr>Project Presentation End-to-End Insurance Claim Processing  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Live Demo</vt:lpstr>
      <vt:lpstr>Questions?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Welberg, T.J. (Thijmen, Student B-TCS)</dc:creator>
  <cp:lastModifiedBy>Welberg, T.J. (Thijmen, Student B-TCS)</cp:lastModifiedBy>
  <cp:revision>2</cp:revision>
  <dcterms:created xsi:type="dcterms:W3CDTF">2026-01-23T10:38:46Z</dcterms:created>
  <dcterms:modified xsi:type="dcterms:W3CDTF">2026-01-26T22:39:12Z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0x010100ED56225BCCAE3C46894C4AAAB51BBBFF</vt:lpwstr>
  </property>
</Properties>
</file>